
<file path=[Content_Types].xml><?xml version="1.0" encoding="utf-8"?>
<Types xmlns="http://schemas.openxmlformats.org/package/2006/content-types">
  <Default Extension="Default" ContentType="image/pn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5" r:id="rId3"/>
    <p:sldId id="261" r:id="rId4"/>
    <p:sldId id="260" r:id="rId5"/>
    <p:sldId id="266" r:id="rId6"/>
    <p:sldId id="267" r:id="rId7"/>
    <p:sldId id="259" r:id="rId8"/>
    <p:sldId id="269" r:id="rId9"/>
    <p:sldId id="258" r:id="rId10"/>
    <p:sldId id="268" r:id="rId11"/>
    <p:sldId id="257" r:id="rId12"/>
    <p:sldId id="270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D72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26"/>
    <p:restoredTop sz="94584"/>
  </p:normalViewPr>
  <p:slideViewPr>
    <p:cSldViewPr snapToGrid="0">
      <p:cViewPr varScale="1">
        <p:scale>
          <a:sx n="204" d="100"/>
          <a:sy n="204" d="100"/>
        </p:scale>
        <p:origin x="51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DDF1E4-614F-4446-BB5E-0163C631C27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FCE24-BE8F-9F4B-A60F-675C348DF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415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B71D3-F3EA-E040-6966-2B2926614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736872-9557-7013-9C9B-2931C138B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9FFEE-C04F-3265-DE39-EEAF1EF7A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D8295-5300-098E-16CB-990C27BB6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FCE24-BE8F-9F4B-A60F-675C348DFC9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0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FCE24-BE8F-9F4B-A60F-675C348DFC9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928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BEA56-CB81-31E7-8C68-5D7121D2B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8274BF-ED28-7DC5-9312-FE9D7EA13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F1AE34-34B1-B8FA-95D2-272E857B9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BE4C9-8FB2-4122-56E4-F55BCBC49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FCE24-BE8F-9F4B-A60F-675C348DFC9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403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B71D3-F3EA-E040-6966-2B2926614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736872-9557-7013-9C9B-2931C138B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9FFEE-C04F-3265-DE39-EEAF1EF7A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3 minutes. Reproducible: another person (or you, later) can run your work from start to finish and get the same results. Distinguish briefly: reproducible means the same data and code give the same results; replicable means new data gives consistent conclusions. A notebook is reproducible only if it runs top to bottom on a fresh kernel, and someone else can find the data and install the packages.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D8295-5300-098E-16CB-990C27BB6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FCE24-BE8F-9F4B-A60F-675C348DFC9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0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B71D3-F3EA-E040-6966-2B2926614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736872-9557-7013-9C9B-2931C138B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9FFEE-C04F-3265-DE39-EEAF1EF7A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minutes. Give learners 3 minutes to skim, then ask in chat. Sort answers into themes on screen as they arrive and do not correct them yet. Flaws the notebook should contain: execution numbers out of order; a variable used before it is defined (hidden state); an absolute file path like C:\Users\...; imports scattered through the notebook; no markdown or explanation; unlabeled plots; no README or package list. If few learners respond, ask for a one-word yes or no first, then reasons, or call on a named person.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D8295-5300-098E-16CB-990C27BB6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FCE24-BE8F-9F4B-A60F-675C348DFC9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0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B71D3-F3EA-E040-6966-2B2926614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736872-9557-7013-9C9B-2931C138B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9FFEE-C04F-3265-DE39-EEAF1EF7A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Tips 1 to 4 of 8. Map each to a flaw learners just named. Restart &amp; Run All is the one-click reproducibility test. Also mention clearing stale output or re-running before sharing, so saved output matches the code.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D8295-5300-098E-16CB-990C27BB6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FCE24-BE8F-9F4B-A60F-675C348DFC9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05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B71D3-F3EA-E040-6966-2B2926614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736872-9557-7013-9C9B-2931C138B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9FFEE-C04F-3265-DE39-EEAF1EF7A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Tips 5 to 8 of 8. Tips 7 and 8 set up Exercise 2. About 8 minutes for both tip slides together.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D8295-5300-098E-16CB-990C27BB6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FCE24-BE8F-9F4B-A60F-675C348DFC9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0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7091F-7811-3943-DFB0-C8463CCEC2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A69977-AAC8-37A9-5CBD-1B73EE8A1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C95181-F3C5-E104-34E3-67D958F8B2FA}"/>
              </a:ext>
            </a:extLst>
          </p:cNvPr>
          <p:cNvSpPr/>
          <p:nvPr userDrawn="1"/>
        </p:nvSpPr>
        <p:spPr>
          <a:xfrm>
            <a:off x="0" y="0"/>
            <a:ext cx="12192000" cy="136525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ABB8F3A-FBC2-1890-12AA-56BD063AF8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94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95AFA-7436-2E07-BE9A-2085A7700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236CF-562F-30EE-2A6B-F22A3670B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Aft>
                <a:spcPts val="1000"/>
              </a:spcAft>
              <a:defRPr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lnSpc>
                <a:spcPct val="100000"/>
              </a:lnSpc>
              <a:spcAft>
                <a:spcPts val="1000"/>
              </a:spcAft>
              <a:defRPr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lnSpc>
                <a:spcPct val="100000"/>
              </a:lnSpc>
              <a:spcAft>
                <a:spcPts val="1000"/>
              </a:spcAft>
              <a:defRPr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lnSpc>
                <a:spcPct val="100000"/>
              </a:lnSpc>
              <a:spcAft>
                <a:spcPts val="1000"/>
              </a:spcAft>
              <a:defRPr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lnSpc>
                <a:spcPct val="100000"/>
              </a:lnSpc>
              <a:spcAft>
                <a:spcPts val="1000"/>
              </a:spcAft>
              <a:defRPr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1F27CEB-0E7D-1E5A-C70C-F44BB072FA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214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553FE-A5A9-B4FB-B868-33AA6AC53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669D9-EEE1-A7A2-E93C-C6F830C54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997A5-6B9B-8D66-3326-EDE8A41B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0080E1B-8759-DB40-902A-69B36E2FD8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463AB-EEBF-E6AD-63B6-18CA8F0C4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CB801-AC9E-244D-882C-1A50C0052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A980B0-2227-434C-9A3F-BCB20FF87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293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829C8-C181-A92D-3F17-AF9B177C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B98C7-8FEF-8C4D-9001-1AA82DCC5C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2739A-A055-0805-B46A-7177279F2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05B6CA-CA89-2E8D-CA9A-286C9622A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0080E1B-8759-DB40-902A-69B36E2FD8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281C1-7F1C-AD54-347B-2A089E274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1E687-7BDA-31EC-EA8E-BFBD442E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A980B0-2227-434C-9A3F-BCB20FF87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79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C555F-6A27-C599-A499-096E8E8ED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5D7CD-5774-39BC-0E29-74FD82E2E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64D26-F717-52D8-21F8-18AAACC4F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39D2D7-37B1-5D35-01B1-C2374A7880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BB194A-6F37-6DC4-EFFB-68A0843EB5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807C23-D85F-CF26-3DB9-ECF36001D7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0080E1B-8759-DB40-902A-69B36E2FD8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A670A6-5AED-577F-5126-78ACA6BFE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B00940-3472-B84D-E7A1-33E7F14B3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A980B0-2227-434C-9A3F-BCB20FF87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144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D5A91-4CA6-8762-98CD-3BA9AC2AA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358F9-1809-1D7E-4AC3-B61693536A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0080E1B-8759-DB40-902A-69B36E2FD8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8048F5-27C5-04C2-E5D1-46E39E5EA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067C5-C7AD-F860-51F0-3708F0910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A980B0-2227-434C-9A3F-BCB20FF87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30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C2B3BA-D6C1-D3FE-09E4-76D5FA63CD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0080E1B-8759-DB40-902A-69B36E2FD8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B28B7-E650-7869-A21E-3ED251B11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1B735-4F55-883C-64E1-D0CF59219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A980B0-2227-434C-9A3F-BCB20FF87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84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B048D-1812-8097-BEDB-B9DF62138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2EB47-7611-61CB-776F-D50B917F4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CB1AD9-5D53-C825-0906-3057097E3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97379-BD4A-4D1C-EEBE-5F8DDD3AD7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0080E1B-8759-DB40-902A-69B36E2FD8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E9583-BFF2-F063-261A-CC26910A3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873AF-1BBA-B2A2-E197-21A74461F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A980B0-2227-434C-9A3F-BCB20FF87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237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93EF0-BD61-474A-54EB-560491FC8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91CF4C-A85A-A2D0-D94F-AFF6A8E7421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F33061-A11E-5372-2DC0-5FB097CBF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D12C57-22C8-7BB9-312C-A96278A849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0080E1B-8759-DB40-902A-69B36E2FD8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CE8B1-C653-2D2F-9CED-C3BE4D7CC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6F2B1-C8D6-2444-EDEB-96DCF817F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A980B0-2227-434C-9A3F-BCB20FF87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03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9A9AE-8377-93E9-11F6-7738155BB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AA33CD-6C3E-85C2-DC8C-700AC03CB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839A4-375F-0D90-43DA-0F5AF02E5D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0080E1B-8759-DB40-902A-69B36E2FD8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231F3-C276-9FCC-0A73-DF64601AD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9E7F2-6D08-7940-943B-C9951D36B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A980B0-2227-434C-9A3F-BCB20FF87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46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C02A88-643D-C36D-B3CA-95668B76B8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2DE44C-7CF3-8831-F50C-E5D31535BD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4CFCC-C102-CB5D-132B-E816B4ABE5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0080E1B-8759-DB40-902A-69B36E2FD8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FB7B2-C3AF-EA76-3757-877ED7776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020C9-701C-671C-9F34-B593F2C88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A980B0-2227-434C-9A3F-BCB20FF87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89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6488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FCF46C-1F66-D395-4033-B56B1FB73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BA5BE-38B1-7BA8-A0F9-68EC902FC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8FB24-8F26-0A8E-72C0-794AD9ED3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D6CDFA-FB45-500A-63A6-AC108CBA2124}"/>
              </a:ext>
            </a:extLst>
          </p:cNvPr>
          <p:cNvSpPr/>
          <p:nvPr userDrawn="1"/>
        </p:nvSpPr>
        <p:spPr>
          <a:xfrm>
            <a:off x="0" y="0"/>
            <a:ext cx="12192000" cy="136525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92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lawson@jhu.edu" TargetMode="External"/><Relationship Id="rId2" Type="http://schemas.openxmlformats.org/officeDocument/2006/relationships/image" Target="../media/image1.Default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upyter.org/assets/homepage/jupyterpreview.webp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upyter.org/assets/homepage/jupyterpreview.webp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Jupyter - Visual Studio Marketplace">
            <a:extLst>
              <a:ext uri="{FF2B5EF4-FFF2-40B4-BE49-F238E27FC236}">
                <a16:creationId xmlns:a16="http://schemas.microsoft.com/office/drawing/2014/main" id="{ECA2CB24-C300-2E08-D960-FF98C233A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820" y="940013"/>
            <a:ext cx="3452362" cy="34556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2D60D1-93ED-8368-1F65-AC8123820C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688" y="4535022"/>
            <a:ext cx="10738624" cy="1583473"/>
          </a:xfrm>
        </p:spPr>
        <p:txBody>
          <a:bodyPr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Peter Lawson, Ph.D. </a:t>
            </a:r>
            <a:b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Data and Visualization Librarian</a:t>
            </a:r>
            <a:b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Digital Scholarship and Data Services</a:t>
            </a:r>
            <a:b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hlinkClick r:id="rId3"/>
              </a:rPr>
              <a:t>plawson@jhu.edu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611EC42-111E-319D-B8EC-A609213702D3}"/>
              </a:ext>
            </a:extLst>
          </p:cNvPr>
          <p:cNvSpPr txBox="1">
            <a:spLocks/>
          </p:cNvSpPr>
          <p:nvPr/>
        </p:nvSpPr>
        <p:spPr>
          <a:xfrm>
            <a:off x="726688" y="739505"/>
            <a:ext cx="1073862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5000"/>
              </a:lnSpc>
            </a:pP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Combining Python </a:t>
            </a:r>
            <a:r>
              <a:rPr lang="en-US" sz="4800" b="1" dirty="0">
                <a:solidFill>
                  <a:srgbClr val="002D72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{</a:t>
            </a:r>
            <a:r>
              <a:rPr lang="en-US" sz="4800" dirty="0">
                <a:solidFill>
                  <a:srgbClr val="002D72"/>
                </a:solidFill>
                <a:latin typeface="Monaspace Neon Medium" panose="02000009000000000000" pitchFamily="49" charset="0"/>
                <a:ea typeface="Monaspace Neon Medium" panose="02000009000000000000" pitchFamily="49" charset="0"/>
                <a:cs typeface="Monaspace Neon Medium" panose="02000009000000000000" pitchFamily="49" charset="0"/>
              </a:rPr>
              <a:t>CODE</a:t>
            </a:r>
            <a:r>
              <a:rPr lang="en-US" sz="4800" b="1" dirty="0">
                <a:solidFill>
                  <a:srgbClr val="002D72"/>
                </a:solidFill>
                <a:latin typeface="Source Code Pro SemiBold" panose="020B0309030403020204" pitchFamily="34" charset="0"/>
                <a:ea typeface="Source Code Pro SemiBold" panose="020B0309030403020204" pitchFamily="34" charset="0"/>
              </a:rPr>
              <a:t>}</a:t>
            </a:r>
            <a:br>
              <a:rPr lang="en-US" sz="4800" b="1" dirty="0">
                <a:solidFill>
                  <a:srgbClr val="002D72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</a:b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and </a:t>
            </a:r>
            <a:r>
              <a:rPr lang="en-US" sz="4900" dirty="0">
                <a:solidFill>
                  <a:srgbClr val="002D72"/>
                </a:solidFill>
                <a:latin typeface="Hopkins Slab Medium" pitchFamily="2" charset="77"/>
                <a:ea typeface="CMU SERIF EXTRA ROMANSLANTED" panose="02000603000000000000" pitchFamily="2" charset="0"/>
                <a:cs typeface="CMU SERIF EXTRA ROMANSLANTED" panose="02000603000000000000" pitchFamily="2" charset="0"/>
              </a:rPr>
              <a:t>Documentation</a:t>
            </a:r>
            <a:b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</a:br>
            <a:endParaRPr lang="en-US" sz="4800" dirty="0">
              <a:solidFill>
                <a:schemeClr val="tx1">
                  <a:lumMod val="75000"/>
                  <a:lumOff val="25000"/>
                </a:schemeClr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1B34456-213A-55DA-7EFD-D3A9CAD0B082}"/>
              </a:ext>
            </a:extLst>
          </p:cNvPr>
          <p:cNvSpPr txBox="1">
            <a:spLocks/>
          </p:cNvSpPr>
          <p:nvPr/>
        </p:nvSpPr>
        <p:spPr>
          <a:xfrm>
            <a:off x="726688" y="2247590"/>
            <a:ext cx="8238892" cy="15834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5000"/>
              </a:lnSpc>
            </a:pPr>
            <a:r>
              <a:rPr lang="en-US" sz="3800" dirty="0">
                <a:solidFill>
                  <a:schemeClr val="tx1">
                    <a:lumMod val="75000"/>
                    <a:lumOff val="25000"/>
                  </a:schemeClr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An Introduction to Jupyter Notebooks and </a:t>
            </a:r>
            <a:r>
              <a:rPr lang="en-US" sz="3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JupyterLab</a:t>
            </a:r>
            <a:endParaRPr lang="en-US" sz="3800" dirty="0">
              <a:solidFill>
                <a:schemeClr val="tx1">
                  <a:lumMod val="75000"/>
                  <a:lumOff val="25000"/>
                </a:schemeClr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1DB3E08-7A10-E4DC-0F62-0359D4D2CB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7340" y="5339148"/>
            <a:ext cx="4113150" cy="138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212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/>
        </p:nvSpPr>
        <p:spPr>
          <a:xfrm>
            <a:off x="0" y="5730948"/>
            <a:ext cx="2317898" cy="1127051"/>
          </a:xfrm>
          <a:prstGeom prst="homePlate">
            <a:avLst/>
          </a:prstGeom>
          <a:solidFill>
            <a:srgbClr val="D4D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Gentona SemiBold Italic" panose="00000700000000000000" pitchFamily="50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-1" y="0"/>
            <a:ext cx="5284382" cy="5730948"/>
          </a:xfrm>
          <a:prstGeom prst="rect">
            <a:avLst/>
          </a:prstGeom>
          <a:solidFill>
            <a:srgbClr val="2435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-1" y="5730949"/>
            <a:ext cx="12192000" cy="0"/>
          </a:xfrm>
          <a:prstGeom prst="line">
            <a:avLst/>
          </a:prstGeom>
          <a:ln w="57150">
            <a:solidFill>
              <a:srgbClr val="71AA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entagon 4"/>
          <p:cNvSpPr/>
          <p:nvPr/>
        </p:nvSpPr>
        <p:spPr>
          <a:xfrm>
            <a:off x="0" y="5730949"/>
            <a:ext cx="2115880" cy="1127051"/>
          </a:xfrm>
          <a:prstGeom prst="homePlate">
            <a:avLst/>
          </a:prstGeom>
          <a:solidFill>
            <a:srgbClr val="71AA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latin typeface="Quadon" panose="00000800000000000000" pitchFamily="50" charset="0"/>
              </a:rPr>
              <a:t>SURVEY</a:t>
            </a:r>
          </a:p>
        </p:txBody>
      </p:sp>
      <p:sp>
        <p:nvSpPr>
          <p:cNvPr id="6" name="Rectangle 5"/>
          <p:cNvSpPr/>
          <p:nvPr/>
        </p:nvSpPr>
        <p:spPr>
          <a:xfrm>
            <a:off x="2317898" y="6094417"/>
            <a:ext cx="19014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24356F"/>
                </a:solidFill>
                <a:latin typeface="Quadon" panose="00000800000000000000" pitchFamily="50" charset="0"/>
              </a:rPr>
              <a:t>bit.ly</a:t>
            </a:r>
            <a:r>
              <a:rPr lang="en-US" dirty="0">
                <a:solidFill>
                  <a:srgbClr val="24356F"/>
                </a:solidFill>
                <a:latin typeface="Quadon" panose="00000800000000000000" pitchFamily="50" charset="0"/>
              </a:rPr>
              <a:t>/</a:t>
            </a:r>
            <a:r>
              <a:rPr lang="en-US" dirty="0" err="1">
                <a:solidFill>
                  <a:srgbClr val="24356F"/>
                </a:solidFill>
                <a:latin typeface="Quadon" panose="00000800000000000000" pitchFamily="50" charset="0"/>
              </a:rPr>
              <a:t>dsds</a:t>
            </a:r>
            <a:r>
              <a:rPr lang="en-US" dirty="0">
                <a:solidFill>
                  <a:srgbClr val="24356F"/>
                </a:solidFill>
                <a:latin typeface="Quadon" panose="00000800000000000000" pitchFamily="50" charset="0"/>
              </a:rPr>
              <a:t>-survey </a:t>
            </a:r>
          </a:p>
        </p:txBody>
      </p:sp>
      <p:sp>
        <p:nvSpPr>
          <p:cNvPr id="8" name="Right Arrow 7"/>
          <p:cNvSpPr/>
          <p:nvPr/>
        </p:nvSpPr>
        <p:spPr>
          <a:xfrm>
            <a:off x="0" y="0"/>
            <a:ext cx="6368902" cy="2638031"/>
          </a:xfrm>
          <a:prstGeom prst="rightArrow">
            <a:avLst>
              <a:gd name="adj1" fmla="val 52418"/>
              <a:gd name="adj2" fmla="val 41577"/>
            </a:avLst>
          </a:prstGeom>
          <a:solidFill>
            <a:srgbClr val="F36E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1C7AF4F-5526-6F42-915F-519252556F7D}"/>
              </a:ext>
            </a:extLst>
          </p:cNvPr>
          <p:cNvSpPr txBox="1">
            <a:spLocks/>
          </p:cNvSpPr>
          <p:nvPr/>
        </p:nvSpPr>
        <p:spPr>
          <a:xfrm>
            <a:off x="175688" y="805459"/>
            <a:ext cx="5417038" cy="102711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1" i="0" kern="1200">
                <a:solidFill>
                  <a:schemeClr val="bg1"/>
                </a:solidFill>
                <a:latin typeface="Gentona SemiBold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Contact JHU Data Services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4FF32308-69B0-BF41-B009-E2BBACF78203}"/>
              </a:ext>
            </a:extLst>
          </p:cNvPr>
          <p:cNvSpPr txBox="1">
            <a:spLocks/>
          </p:cNvSpPr>
          <p:nvPr/>
        </p:nvSpPr>
        <p:spPr>
          <a:xfrm>
            <a:off x="167587" y="2422962"/>
            <a:ext cx="5284382" cy="2753980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200" b="1" kern="1200">
                <a:solidFill>
                  <a:srgbClr val="252F5A"/>
                </a:solidFill>
                <a:latin typeface="Gentona Book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solidFill>
                <a:srgbClr val="F36E21"/>
              </a:solidFill>
              <a:latin typeface="Quadon" panose="00000800000000000000" pitchFamily="50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solidFill>
                <a:srgbClr val="F36E21"/>
              </a:solidFill>
              <a:latin typeface="Quadon" panose="00000800000000000000" pitchFamily="50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solidFill>
                <a:srgbClr val="F36E21"/>
              </a:solidFill>
              <a:latin typeface="Quadon" panose="00000800000000000000" pitchFamily="50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solidFill>
                <a:srgbClr val="F36E21"/>
              </a:solidFill>
              <a:latin typeface="Quadon" panose="00000800000000000000" pitchFamily="50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solidFill>
                <a:srgbClr val="F36E21"/>
              </a:solidFill>
              <a:latin typeface="Quadon" panose="00000800000000000000" pitchFamily="50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solidFill>
                <a:srgbClr val="F36E21"/>
              </a:solidFill>
              <a:latin typeface="Quadon" panose="00000800000000000000" pitchFamily="50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solidFill>
                <a:srgbClr val="F36E21"/>
              </a:solidFill>
              <a:latin typeface="Quadon" panose="00000800000000000000" pitchFamily="50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D4D654"/>
                </a:solidFill>
                <a:latin typeface="Quadon" panose="00000800000000000000" pitchFamily="50" charset="0"/>
              </a:rPr>
              <a:t>GO TO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Quadon" panose="00000800000000000000" pitchFamily="50" charset="0"/>
              </a:rPr>
              <a:t>	dataservices.library.jhu.edu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solidFill>
                <a:srgbClr val="F36E21"/>
              </a:solidFill>
              <a:latin typeface="Quadon" panose="00000800000000000000" pitchFamily="50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D4D654"/>
                </a:solidFill>
                <a:latin typeface="Quadon" panose="00000800000000000000" pitchFamily="50" charset="0"/>
              </a:rPr>
              <a:t>EMAIL</a:t>
            </a:r>
            <a:r>
              <a:rPr lang="en-US" dirty="0">
                <a:solidFill>
                  <a:srgbClr val="F36E21"/>
                </a:solidFill>
                <a:latin typeface="Quadon" panose="00000800000000000000" pitchFamily="50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Quadon" panose="00000800000000000000" pitchFamily="50" charset="0"/>
              </a:rPr>
              <a:t>	dataservices@jhu.edu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solidFill>
                <a:srgbClr val="F36E21"/>
              </a:solidFill>
              <a:latin typeface="Quadon" panose="00000800000000000000" pitchFamily="50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D4D654"/>
                </a:solidFill>
                <a:latin typeface="Quadon" panose="00000800000000000000" pitchFamily="50" charset="0"/>
              </a:rPr>
              <a:t>SHARE DATA AT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Quadon" panose="00000800000000000000" pitchFamily="50" charset="0"/>
              </a:rPr>
              <a:t>	archive.data.jhu.edu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593" y="5730950"/>
            <a:ext cx="4672466" cy="11270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6411" y="940336"/>
            <a:ext cx="1523393" cy="18413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515" y="978281"/>
            <a:ext cx="1459385" cy="18413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890" y="2762598"/>
            <a:ext cx="1574600" cy="18413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9425" y="2781636"/>
            <a:ext cx="1521260" cy="18413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620" y="2781636"/>
            <a:ext cx="1484988" cy="18413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28177" y="222919"/>
            <a:ext cx="3592676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spc="200">
                <a:solidFill>
                  <a:srgbClr val="24356F"/>
                </a:solidFill>
                <a:latin typeface="Quadon MediumItalic"/>
              </a:rPr>
              <a:t>Helping you</a:t>
            </a:r>
            <a:endParaRPr lang="en-US" sz="3600" spc="200">
              <a:solidFill>
                <a:srgbClr val="24356F"/>
              </a:solidFill>
              <a:latin typeface="Quadon MediumItalic" panose="00000600000000000000" pitchFamily="50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88656" y="4877748"/>
            <a:ext cx="2052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spc="200">
                <a:solidFill>
                  <a:srgbClr val="24356F"/>
                </a:solidFill>
                <a:latin typeface="Quadon MediumItalic" panose="00000600000000000000" pitchFamily="50" charset="0"/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223667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C78C57-26A9-52DF-AD32-A8330155ED06}"/>
              </a:ext>
            </a:extLst>
          </p:cNvPr>
          <p:cNvSpPr txBox="1"/>
          <p:nvPr/>
        </p:nvSpPr>
        <p:spPr>
          <a:xfrm>
            <a:off x="1864812" y="2752062"/>
            <a:ext cx="609704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solidFill>
                  <a:srgbClr val="404040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Imagine you want to know how your colleague has cleaned their data. 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F80F1F-6593-7E52-5868-CDDB6ECED68B}"/>
              </a:ext>
            </a:extLst>
          </p:cNvPr>
          <p:cNvCxnSpPr>
            <a:cxnSpLocks/>
          </p:cNvCxnSpPr>
          <p:nvPr/>
        </p:nvCxnSpPr>
        <p:spPr>
          <a:xfrm>
            <a:off x="0" y="3030514"/>
            <a:ext cx="1784959" cy="0"/>
          </a:xfrm>
          <a:prstGeom prst="line">
            <a:avLst/>
          </a:prstGeom>
          <a:ln w="57150">
            <a:solidFill>
              <a:srgbClr val="002D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849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24E0B-F81C-A7CA-F7C1-B0DC7FBF1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908F2-E0D3-682A-046F-767F90565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34" y="-499383"/>
            <a:ext cx="11506199" cy="2595789"/>
          </a:xfrm>
        </p:spPr>
        <p:txBody>
          <a:bodyPr>
            <a:normAutofit/>
          </a:bodyPr>
          <a:lstStyle/>
          <a:p>
            <a:pPr>
              <a:spcBef>
                <a:spcPts val="6000"/>
              </a:spcBef>
              <a:spcAft>
                <a:spcPts val="2400"/>
              </a:spcAft>
            </a:pPr>
            <a:r>
              <a:rPr lang="en-US" sz="2500" dirty="0">
                <a:solidFill>
                  <a:srgbClr val="404040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Which would be easier to understand?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51B4936-720D-2184-5A74-B6CC2A048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r>
              <a:rPr lang="en-US" dirty="0"/>
              <a:t>Source: Tanu Nanda Prabhu, </a:t>
            </a:r>
            <a:r>
              <a:rPr lang="en-US" i="1" dirty="0"/>
              <a:t>Data Cleaning using Python with Pandas Library</a:t>
            </a:r>
            <a:r>
              <a:rPr lang="en-US" dirty="0"/>
              <a:t> (GitHub)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1AF66C-B367-5FD5-59F5-6B7EA7755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335" y="1931647"/>
            <a:ext cx="3505200" cy="4292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C2AB7A-4DCF-BDB5-A27D-72A645930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3468" y="1453418"/>
            <a:ext cx="4270332" cy="486422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5E1CDBA-4124-6C5D-42B8-7F913A140BD6}"/>
              </a:ext>
            </a:extLst>
          </p:cNvPr>
          <p:cNvSpPr txBox="1">
            <a:spLocks/>
          </p:cNvSpPr>
          <p:nvPr/>
        </p:nvSpPr>
        <p:spPr>
          <a:xfrm>
            <a:off x="2164915" y="395178"/>
            <a:ext cx="10515600" cy="25957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6000"/>
              </a:spcBef>
              <a:spcAft>
                <a:spcPts val="2400"/>
              </a:spcAft>
            </a:pPr>
            <a:r>
              <a:rPr lang="en-US" sz="2000" dirty="0">
                <a:solidFill>
                  <a:srgbClr val="404040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Script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417D4F2-56E2-C579-05C0-1B5377CC6698}"/>
              </a:ext>
            </a:extLst>
          </p:cNvPr>
          <p:cNvSpPr txBox="1">
            <a:spLocks/>
          </p:cNvSpPr>
          <p:nvPr/>
        </p:nvSpPr>
        <p:spPr>
          <a:xfrm>
            <a:off x="7422715" y="-140019"/>
            <a:ext cx="10515600" cy="25957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6000"/>
              </a:spcBef>
              <a:spcAft>
                <a:spcPts val="2400"/>
              </a:spcAft>
            </a:pPr>
            <a:r>
              <a:rPr lang="en-US" sz="2000" dirty="0">
                <a:solidFill>
                  <a:srgbClr val="404040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Notebook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2855998-1626-F48F-678F-A034D894D02F}"/>
              </a:ext>
            </a:extLst>
          </p:cNvPr>
          <p:cNvCxnSpPr>
            <a:cxnSpLocks/>
          </p:cNvCxnSpPr>
          <p:nvPr/>
        </p:nvCxnSpPr>
        <p:spPr>
          <a:xfrm>
            <a:off x="2246335" y="1846805"/>
            <a:ext cx="3505200" cy="0"/>
          </a:xfrm>
          <a:prstGeom prst="line">
            <a:avLst/>
          </a:prstGeom>
          <a:ln>
            <a:solidFill>
              <a:srgbClr val="002D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54FB22-0621-E51A-8B83-D9286BC8FD70}"/>
              </a:ext>
            </a:extLst>
          </p:cNvPr>
          <p:cNvCxnSpPr>
            <a:cxnSpLocks/>
          </p:cNvCxnSpPr>
          <p:nvPr/>
        </p:nvCxnSpPr>
        <p:spPr>
          <a:xfrm>
            <a:off x="7504135" y="1331703"/>
            <a:ext cx="3505200" cy="0"/>
          </a:xfrm>
          <a:prstGeom prst="line">
            <a:avLst/>
          </a:prstGeom>
          <a:ln>
            <a:solidFill>
              <a:srgbClr val="002D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8066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98949-E876-6736-9E17-37193E8FB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E00246-4823-8DE5-2CDB-34C6E02776B3}"/>
              </a:ext>
            </a:extLst>
          </p:cNvPr>
          <p:cNvSpPr txBox="1"/>
          <p:nvPr/>
        </p:nvSpPr>
        <p:spPr>
          <a:xfrm>
            <a:off x="1864812" y="2752062"/>
            <a:ext cx="81251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404040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What is an ”Interactive Notebook”?</a:t>
            </a:r>
            <a:endParaRPr lang="en-US" sz="2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76FEF2A-E11E-FC1A-D5DF-ED701B657AE9}"/>
              </a:ext>
            </a:extLst>
          </p:cNvPr>
          <p:cNvCxnSpPr>
            <a:cxnSpLocks/>
          </p:cNvCxnSpPr>
          <p:nvPr/>
        </p:nvCxnSpPr>
        <p:spPr>
          <a:xfrm>
            <a:off x="0" y="3030514"/>
            <a:ext cx="1784959" cy="0"/>
          </a:xfrm>
          <a:prstGeom prst="line">
            <a:avLst/>
          </a:prstGeom>
          <a:ln w="57150">
            <a:solidFill>
              <a:srgbClr val="002D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9879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B27B8-FFF5-425C-909D-BD68FD08E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Inter Medium" panose="02000503000000020004" pitchFamily="2" charset="0"/>
                <a:ea typeface="Inter Medium" panose="02000503000000020004" pitchFamily="2" charset="0"/>
              </a:rPr>
              <a:t>Interactive Notebooks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2DA56-BD73-8F61-70D7-C5070E51A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89171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Weave together documentation and executable code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Typically made of cells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that can be run individually to explore step-by-step results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Can be general purpose or specific to a programming language or discipline. 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A2508-A937-C77A-8549-25197168B7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en-US" dirty="0"/>
              <a:t>Gregory I. Lang, as above, CC BY 2.5 &lt;https://</a:t>
            </a:r>
            <a:r>
              <a:rPr lang="en-US" dirty="0" err="1"/>
              <a:t>creativecommons.org</a:t>
            </a:r>
            <a:r>
              <a:rPr lang="en-US" dirty="0"/>
              <a:t>/licenses/by/2.5&gt;, via Wikimedia Commons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BFC3BD-FE87-4A68-62AA-532C98E00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968" y="508001"/>
            <a:ext cx="4423604" cy="575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919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36FE1-E860-DAAD-0D50-16A2EA69F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Jupyter Notebooks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CA107-9EAC-E61D-623B-0161DA921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98304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Interactive notebooks for data analysis and visualization 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Can execute code, or display formatted text, using 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markdown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Supports multiple programming languages (Python, R, Julia, Fortran and more) through 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kernels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software that executes code.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Can be shared directly, or in other formats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Picture 5" descr="example notebook of Lorenz differential equations">
            <a:extLst>
              <a:ext uri="{FF2B5EF4-FFF2-40B4-BE49-F238E27FC236}">
                <a16:creationId xmlns:a16="http://schemas.microsoft.com/office/drawing/2014/main" id="{82CDE132-0329-3361-1756-C928C1F79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967" y="1465220"/>
            <a:ext cx="6331091" cy="4485417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7F127C-BC80-A94B-446B-1864C57D4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r>
              <a:rPr lang="en-US" dirty="0"/>
              <a:t>Project Jupyter. (n.d.). Jupyter Notebook interface screenshot [Image]. Jupyter. </a:t>
            </a:r>
            <a:r>
              <a:rPr lang="en-US" dirty="0">
                <a:hlinkClick r:id="rId4"/>
              </a:rPr>
              <a:t>https://jupyter.org/assets/homepage/jupyterpreview.webp</a:t>
            </a:r>
            <a:r>
              <a:rPr lang="en-US" dirty="0"/>
              <a:t>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FD1E904-9A7F-EA58-D986-43770BAD9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77879"/>
              </p:ext>
            </p:extLst>
          </p:nvPr>
        </p:nvGraphicFramePr>
        <p:xfrm>
          <a:off x="1067779" y="5626577"/>
          <a:ext cx="423914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573">
                  <a:extLst>
                    <a:ext uri="{9D8B030D-6E8A-4147-A177-3AD203B41FA5}">
                      <a16:colId xmlns:a16="http://schemas.microsoft.com/office/drawing/2014/main" val="2326074099"/>
                    </a:ext>
                  </a:extLst>
                </a:gridCol>
                <a:gridCol w="2119573">
                  <a:extLst>
                    <a:ext uri="{9D8B030D-6E8A-4147-A177-3AD203B41FA5}">
                      <a16:colId xmlns:a16="http://schemas.microsoft.com/office/drawing/2014/main" val="39882608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Notebook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Website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Slides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PDF Document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320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7090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DF00B-BA1E-D520-9997-998172702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04B015-8B46-BEF5-569D-939F3B56E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684263"/>
              </p:ext>
            </p:extLst>
          </p:nvPr>
        </p:nvGraphicFramePr>
        <p:xfrm>
          <a:off x="838200" y="1945640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4946610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073039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Jupyter Notebook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145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596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149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711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835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EEAC6-DCEB-2FED-6FAA-20F767DA2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44B7E5-906F-FD17-67F0-BA17E97598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3" t="8817" r="7077" b="6934"/>
          <a:stretch>
            <a:fillRect/>
          </a:stretch>
        </p:blipFill>
        <p:spPr>
          <a:xfrm>
            <a:off x="551145" y="211873"/>
            <a:ext cx="11513382" cy="6830274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4268706-F57B-82A4-5BC4-57730A235F3B}"/>
              </a:ext>
            </a:extLst>
          </p:cNvPr>
          <p:cNvSpPr/>
          <p:nvPr/>
        </p:nvSpPr>
        <p:spPr>
          <a:xfrm>
            <a:off x="7370956" y="2447691"/>
            <a:ext cx="2074127" cy="2358485"/>
          </a:xfrm>
          <a:prstGeom prst="roundRect">
            <a:avLst>
              <a:gd name="adj" fmla="val 11067"/>
            </a:avLst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753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81F85-18C2-CC62-111F-1444884BA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4F58-4D90-6819-B639-CF5CFA989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Jupyter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B5E11-DDB0-A2A6-5EFC-7E7A5597B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98304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Interactive notebooks for data analysis and visualization 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Can execute code, or display formatted text, using 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markdown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Supports multiple programming languages (Python, R, Julia, Fortran and more) through 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kernels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software that executes code.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Can be shared directly, or in other formats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Picture 5" descr="example notebook of Lorenz differential equations">
            <a:extLst>
              <a:ext uri="{FF2B5EF4-FFF2-40B4-BE49-F238E27FC236}">
                <a16:creationId xmlns:a16="http://schemas.microsoft.com/office/drawing/2014/main" id="{3FA77E4E-4089-FFBD-EDD3-FB4353580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967" y="1465220"/>
            <a:ext cx="6331091" cy="4485417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7E9D81D-7C6E-F4CA-65FC-BE8F93DB00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r>
              <a:rPr lang="en-US" dirty="0"/>
              <a:t>Project Jupyter. (n.d.). Jupyter Notebook interface screenshot [Image]. Jupyter. </a:t>
            </a:r>
            <a:r>
              <a:rPr lang="en-US" dirty="0">
                <a:hlinkClick r:id="rId4"/>
              </a:rPr>
              <a:t>https://jupyter.org/assets/homepage/jupyterpreview.webp</a:t>
            </a:r>
            <a:r>
              <a:rPr lang="en-US" dirty="0"/>
              <a:t>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74384D6-2487-559A-3263-1815309CF4F6}"/>
              </a:ext>
            </a:extLst>
          </p:cNvPr>
          <p:cNvGraphicFramePr>
            <a:graphicFrameLocks noGrp="1"/>
          </p:cNvGraphicFramePr>
          <p:nvPr/>
        </p:nvGraphicFramePr>
        <p:xfrm>
          <a:off x="1067779" y="5626577"/>
          <a:ext cx="423914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573">
                  <a:extLst>
                    <a:ext uri="{9D8B030D-6E8A-4147-A177-3AD203B41FA5}">
                      <a16:colId xmlns:a16="http://schemas.microsoft.com/office/drawing/2014/main" val="2326074099"/>
                    </a:ext>
                  </a:extLst>
                </a:gridCol>
                <a:gridCol w="2119573">
                  <a:extLst>
                    <a:ext uri="{9D8B030D-6E8A-4147-A177-3AD203B41FA5}">
                      <a16:colId xmlns:a16="http://schemas.microsoft.com/office/drawing/2014/main" val="39882608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Notebook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Website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Slides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PDF Document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320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8060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B4DBB1-4DD7-9E08-8EB9-27D511545C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3" t="8680" r="7077" b="6934"/>
          <a:stretch>
            <a:fillRect/>
          </a:stretch>
        </p:blipFill>
        <p:spPr>
          <a:xfrm>
            <a:off x="551145" y="200721"/>
            <a:ext cx="11513382" cy="6841425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E81ED8E-F3CB-5DA5-5E27-E29A4F2E4832}"/>
              </a:ext>
            </a:extLst>
          </p:cNvPr>
          <p:cNvSpPr/>
          <p:nvPr/>
        </p:nvSpPr>
        <p:spPr>
          <a:xfrm>
            <a:off x="5329218" y="2447691"/>
            <a:ext cx="2074127" cy="2358485"/>
          </a:xfrm>
          <a:prstGeom prst="roundRect">
            <a:avLst>
              <a:gd name="adj" fmla="val 11067"/>
            </a:avLst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53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scussion prompt"/>
          <p:cNvSpPr txBox="1"/>
          <p:nvPr/>
        </p:nvSpPr>
        <p:spPr>
          <a:xfrm>
            <a:off x="1864812" y="2300000"/>
            <a:ext cx="9400000" cy="5181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800" dirty="0">
                <a:solidFill>
                  <a:srgbClr val="404040"/>
                </a:solidFill>
                <a:latin typeface="Inter Medium"/>
                <a:ea typeface="Inter Medium"/>
              </a:rPr>
              <a:t>What is reproducible code?</a:t>
            </a:r>
          </a:p>
        </p:txBody>
      </p:sp>
      <p:cxnSp>
        <p:nvCxnSpPr>
          <p:cNvPr id="3" name="Accent line"/>
          <p:cNvCxnSpPr/>
          <p:nvPr/>
        </p:nvCxnSpPr>
        <p:spPr>
          <a:xfrm>
            <a:off x="0" y="2559080"/>
            <a:ext cx="1784959" cy="0"/>
          </a:xfrm>
          <a:prstGeom prst="line">
            <a:avLst/>
          </a:prstGeom>
          <a:ln w="57150">
            <a:solidFill>
              <a:srgbClr val="002D72"/>
            </a:solidFill>
          </a:ln>
        </p:spPr>
      </p:cxnSp>
      <p:sp>
        <p:nvSpPr>
          <p:cNvPr id="4" name="Instructions"/>
          <p:cNvSpPr txBox="1"/>
          <p:nvPr/>
        </p:nvSpPr>
        <p:spPr>
          <a:xfrm>
            <a:off x="1864812" y="2968160"/>
            <a:ext cx="90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000" dirty="0">
                <a:solidFill>
                  <a:srgbClr val="595959"/>
                </a:solidFill>
                <a:latin typeface="Inter"/>
                <a:ea typeface="Inter"/>
              </a:rPr>
              <a:t>Can someone else, or you six months from now, run your work from start to finish and get the same results?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scussion prompt"/>
          <p:cNvSpPr txBox="1"/>
          <p:nvPr/>
        </p:nvSpPr>
        <p:spPr>
          <a:xfrm>
            <a:off x="1864812" y="2300000"/>
            <a:ext cx="9400000" cy="944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800" dirty="0">
                <a:solidFill>
                  <a:srgbClr val="404040"/>
                </a:solidFill>
                <a:latin typeface="Inter Medium"/>
                <a:ea typeface="Inter Medium"/>
              </a:rPr>
              <a:t>Is this notebook reproducible? Why or why not?</a:t>
            </a:r>
          </a:p>
        </p:txBody>
      </p:sp>
      <p:cxnSp>
        <p:nvCxnSpPr>
          <p:cNvPr id="3" name="Accent line"/>
          <p:cNvCxnSpPr/>
          <p:nvPr/>
        </p:nvCxnSpPr>
        <p:spPr>
          <a:xfrm>
            <a:off x="0" y="2559080"/>
            <a:ext cx="1784959" cy="0"/>
          </a:xfrm>
          <a:prstGeom prst="line">
            <a:avLst/>
          </a:prstGeom>
          <a:ln w="57150">
            <a:solidFill>
              <a:srgbClr val="002D72"/>
            </a:solidFill>
          </a:ln>
        </p:spPr>
      </p:cxnSp>
      <p:sp>
        <p:nvSpPr>
          <p:cNvPr id="4" name="Instructions"/>
          <p:cNvSpPr txBox="1"/>
          <p:nvPr/>
        </p:nvSpPr>
        <p:spPr>
          <a:xfrm>
            <a:off x="1864812" y="3394880"/>
            <a:ext cx="90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000" dirty="0">
                <a:solidFill>
                  <a:srgbClr val="595959"/>
                </a:solidFill>
                <a:latin typeface="Inter"/>
                <a:ea typeface="Inter"/>
              </a:rPr>
              <a:t>Open bad_example.ipynb and skim it for 3 minutes. Share your answer in the chat.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Inter Medium"/>
                <a:ea typeface="Inter Medium"/>
              </a:rPr>
              <a:t>Reproducibility tips: </a:t>
            </a:r>
            <a:r>
              <a:rPr lang="en-US" sz="4000" dirty="0">
                <a:solidFill>
                  <a:srgbClr val="002D72"/>
                </a:solidFill>
                <a:latin typeface="Inter Medium"/>
                <a:ea typeface="Inter Medium"/>
              </a:rPr>
              <a:t>code</a:t>
            </a:r>
          </a:p>
        </p:txBody>
      </p:sp>
      <p:sp>
        <p:nvSpPr>
          <p:cNvPr id="5" name="Card 1 text"/>
          <p:cNvSpPr txBox="1"/>
          <p:nvPr/>
        </p:nvSpPr>
        <p:spPr>
          <a:xfrm>
            <a:off x="1788200" y="1975625"/>
            <a:ext cx="3950000" cy="15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200" dirty="0">
                <a:solidFill>
                  <a:srgbClr val="002D72"/>
                </a:solidFill>
                <a:latin typeface="Inter Medium"/>
                <a:ea typeface="Inter Medium"/>
              </a:rPr>
              <a:t>Restart &amp; Run All</a:t>
            </a:r>
          </a:p>
          <a:p>
            <a:pPr algn="l">
              <a:spcAft>
                <a:spcPts val="0"/>
              </a:spcAft>
              <a:buNone/>
            </a:pPr>
            <a:r>
              <a:rPr lang="en-US" sz="1800" dirty="0">
                <a:solidFill>
                  <a:srgbClr val="404040"/>
                </a:solidFill>
                <a:latin typeface="Inter"/>
                <a:ea typeface="Inter"/>
              </a:rPr>
              <a:t>Run it top to bottom on a fresh kernel. If it fails, it isn't reproducible.</a:t>
            </a:r>
          </a:p>
        </p:txBody>
      </p:sp>
      <p:sp>
        <p:nvSpPr>
          <p:cNvPr id="8" name="Card 2 text"/>
          <p:cNvSpPr txBox="1"/>
          <p:nvPr/>
        </p:nvSpPr>
        <p:spPr>
          <a:xfrm>
            <a:off x="7203800" y="1975625"/>
            <a:ext cx="3950000" cy="15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200" dirty="0">
                <a:solidFill>
                  <a:srgbClr val="002D72"/>
                </a:solidFill>
                <a:latin typeface="Inter Medium"/>
                <a:ea typeface="Inter Medium"/>
              </a:rPr>
              <a:t>Keep cells in order</a:t>
            </a:r>
          </a:p>
          <a:p>
            <a:pPr algn="l">
              <a:spcAft>
                <a:spcPts val="0"/>
              </a:spcAft>
              <a:buNone/>
            </a:pPr>
            <a:r>
              <a:rPr lang="en-US" sz="1800" dirty="0">
                <a:solidFill>
                  <a:srgbClr val="404040"/>
                </a:solidFill>
                <a:latin typeface="Inter"/>
                <a:ea typeface="Inter"/>
              </a:rPr>
              <a:t>Your analysis should flow from top to bottom. </a:t>
            </a:r>
          </a:p>
        </p:txBody>
      </p:sp>
      <p:sp>
        <p:nvSpPr>
          <p:cNvPr id="11" name="Card 3 text"/>
          <p:cNvSpPr txBox="1"/>
          <p:nvPr/>
        </p:nvSpPr>
        <p:spPr>
          <a:xfrm>
            <a:off x="1788200" y="4025625"/>
            <a:ext cx="3950000" cy="15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200" dirty="0">
                <a:solidFill>
                  <a:srgbClr val="002D72"/>
                </a:solidFill>
                <a:latin typeface="Inter Medium"/>
                <a:ea typeface="Inter Medium"/>
              </a:rPr>
              <a:t>Use relative paths</a:t>
            </a:r>
          </a:p>
          <a:p>
            <a:pPr algn="l">
              <a:spcAft>
                <a:spcPts val="0"/>
              </a:spcAft>
              <a:buNone/>
            </a:pPr>
            <a:r>
              <a:rPr lang="en-US" sz="1800" dirty="0">
                <a:solidFill>
                  <a:srgbClr val="404040"/>
                </a:solidFill>
                <a:latin typeface="Inter"/>
                <a:ea typeface="Inter"/>
              </a:rPr>
              <a:t>Keep data in a folder next to the notebook, such as data/.</a:t>
            </a:r>
          </a:p>
        </p:txBody>
      </p:sp>
      <p:sp>
        <p:nvSpPr>
          <p:cNvPr id="14" name="Card 4 text"/>
          <p:cNvSpPr txBox="1"/>
          <p:nvPr/>
        </p:nvSpPr>
        <p:spPr>
          <a:xfrm>
            <a:off x="7203800" y="4025625"/>
            <a:ext cx="3950000" cy="15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200" dirty="0">
                <a:solidFill>
                  <a:srgbClr val="002D72"/>
                </a:solidFill>
                <a:latin typeface="Inter Medium"/>
                <a:ea typeface="Inter Medium"/>
              </a:rPr>
              <a:t>Imports and seeds first</a:t>
            </a:r>
          </a:p>
          <a:p>
            <a:pPr algn="l">
              <a:spcAft>
                <a:spcPts val="0"/>
              </a:spcAft>
              <a:buNone/>
            </a:pPr>
            <a:r>
              <a:rPr lang="en-US" sz="1800" dirty="0">
                <a:solidFill>
                  <a:srgbClr val="404040"/>
                </a:solidFill>
                <a:latin typeface="Inter"/>
                <a:ea typeface="Inter"/>
              </a:rPr>
              <a:t>Put imports and random seeds in the first code cell.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Inter Medium"/>
                <a:ea typeface="Inter Medium"/>
              </a:rPr>
              <a:t>Reproducibility tips: </a:t>
            </a:r>
            <a:r>
              <a:rPr lang="en-US" sz="4000" dirty="0">
                <a:solidFill>
                  <a:srgbClr val="002D72"/>
                </a:solidFill>
                <a:latin typeface="Inter Medium"/>
                <a:ea typeface="Inter Medium"/>
              </a:rPr>
              <a:t>sharing</a:t>
            </a:r>
          </a:p>
        </p:txBody>
      </p:sp>
      <p:sp>
        <p:nvSpPr>
          <p:cNvPr id="5" name="Card 5 text"/>
          <p:cNvSpPr txBox="1"/>
          <p:nvPr/>
        </p:nvSpPr>
        <p:spPr>
          <a:xfrm>
            <a:off x="1788200" y="1975625"/>
            <a:ext cx="3950000" cy="15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200" dirty="0">
                <a:solidFill>
                  <a:srgbClr val="002D72"/>
                </a:solidFill>
                <a:latin typeface="Inter Medium"/>
                <a:ea typeface="Inter Medium"/>
              </a:rPr>
              <a:t>Explain in markdown</a:t>
            </a:r>
          </a:p>
          <a:p>
            <a:pPr algn="l">
              <a:spcAft>
                <a:spcPts val="0"/>
              </a:spcAft>
              <a:buNone/>
            </a:pPr>
            <a:r>
              <a:rPr lang="en-US" sz="1800" dirty="0">
                <a:solidFill>
                  <a:srgbClr val="404040"/>
                </a:solidFill>
                <a:latin typeface="Inter"/>
                <a:ea typeface="Inter"/>
              </a:rPr>
              <a:t>Add a title, a purpose, and a heading before each step.</a:t>
            </a:r>
          </a:p>
        </p:txBody>
      </p:sp>
      <p:sp>
        <p:nvSpPr>
          <p:cNvPr id="8" name="Card 6 text"/>
          <p:cNvSpPr txBox="1"/>
          <p:nvPr/>
        </p:nvSpPr>
        <p:spPr>
          <a:xfrm>
            <a:off x="7203800" y="1975625"/>
            <a:ext cx="3950000" cy="15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200" dirty="0">
                <a:solidFill>
                  <a:srgbClr val="002D72"/>
                </a:solidFill>
                <a:latin typeface="Inter Medium"/>
                <a:ea typeface="Inter Medium"/>
              </a:rPr>
              <a:t>Record your environment</a:t>
            </a:r>
          </a:p>
          <a:p>
            <a:pPr algn="l">
              <a:spcAft>
                <a:spcPts val="0"/>
              </a:spcAft>
              <a:buNone/>
            </a:pPr>
            <a:r>
              <a:rPr lang="en-US" sz="1800" dirty="0">
                <a:solidFill>
                  <a:srgbClr val="404040"/>
                </a:solidFill>
                <a:latin typeface="Inter"/>
                <a:ea typeface="Inter"/>
              </a:rPr>
              <a:t>List package versions in environment.yml or requirements.txt.</a:t>
            </a:r>
          </a:p>
        </p:txBody>
      </p:sp>
      <p:sp>
        <p:nvSpPr>
          <p:cNvPr id="11" name="Card 7 text"/>
          <p:cNvSpPr txBox="1"/>
          <p:nvPr/>
        </p:nvSpPr>
        <p:spPr>
          <a:xfrm>
            <a:off x="1788200" y="4025625"/>
            <a:ext cx="3950000" cy="15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200" dirty="0">
                <a:solidFill>
                  <a:srgbClr val="002D72"/>
                </a:solidFill>
                <a:latin typeface="Inter Medium"/>
                <a:ea typeface="Inter Medium"/>
              </a:rPr>
              <a:t>Separate the stages</a:t>
            </a:r>
          </a:p>
          <a:p>
            <a:pPr algn="l">
              <a:spcAft>
                <a:spcPts val="0"/>
              </a:spcAft>
              <a:buNone/>
            </a:pPr>
            <a:r>
              <a:rPr lang="en-US" dirty="0">
                <a:solidFill>
                  <a:srgbClr val="404040"/>
                </a:solidFill>
                <a:latin typeface="Inter"/>
                <a:ea typeface="Inter"/>
              </a:rPr>
              <a:t>Separate the major steps of your analysis, such as cleaning, analysis, and visualization</a:t>
            </a:r>
          </a:p>
          <a:p>
            <a:pPr algn="l">
              <a:spcAft>
                <a:spcPts val="0"/>
              </a:spcAft>
              <a:buNone/>
            </a:pPr>
            <a:endParaRPr lang="en-US" sz="1800" dirty="0">
              <a:solidFill>
                <a:srgbClr val="404040"/>
              </a:solidFill>
              <a:latin typeface="Inter"/>
              <a:ea typeface="Inter"/>
            </a:endParaRPr>
          </a:p>
        </p:txBody>
      </p:sp>
      <p:sp>
        <p:nvSpPr>
          <p:cNvPr id="14" name="Card 8 text"/>
          <p:cNvSpPr txBox="1"/>
          <p:nvPr/>
        </p:nvSpPr>
        <p:spPr>
          <a:xfrm>
            <a:off x="7203800" y="4025625"/>
            <a:ext cx="3950000" cy="15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200" dirty="0">
                <a:solidFill>
                  <a:srgbClr val="002D72"/>
                </a:solidFill>
                <a:latin typeface="Inter Medium"/>
                <a:ea typeface="Inter Medium"/>
              </a:rPr>
              <a:t>Add a README</a:t>
            </a:r>
          </a:p>
          <a:p>
            <a:pPr algn="l">
              <a:spcAft>
                <a:spcPts val="0"/>
              </a:spcAft>
              <a:buNone/>
            </a:pPr>
            <a:r>
              <a:rPr lang="en-US" sz="1800" dirty="0">
                <a:solidFill>
                  <a:srgbClr val="404040"/>
                </a:solidFill>
                <a:latin typeface="Inter"/>
                <a:ea typeface="Inter"/>
              </a:rPr>
              <a:t>Say what the project is, how to run it, and what each file does.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1303</TotalTime>
  <Words>831</Words>
  <Application>Microsoft Macintosh PowerPoint</Application>
  <PresentationFormat>Widescreen</PresentationFormat>
  <Paragraphs>89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Aptos</vt:lpstr>
      <vt:lpstr>Aptos Display</vt:lpstr>
      <vt:lpstr>Arial</vt:lpstr>
      <vt:lpstr>Gentona SemiBold Italic</vt:lpstr>
      <vt:lpstr>Hopkins Slab Medium</vt:lpstr>
      <vt:lpstr>Inter</vt:lpstr>
      <vt:lpstr>Inter Medium</vt:lpstr>
      <vt:lpstr>Inter SemiBold</vt:lpstr>
      <vt:lpstr>Monaspace Neon Medium</vt:lpstr>
      <vt:lpstr>Quadon</vt:lpstr>
      <vt:lpstr>Quadon MediumItalic</vt:lpstr>
      <vt:lpstr>Source Code Pro SemiBold</vt:lpstr>
      <vt:lpstr>Office Theme</vt:lpstr>
      <vt:lpstr>Peter Lawson, Ph.D.  Data and Visualization Librarian Digital Scholarship and Data Services plawson@jhu.edu</vt:lpstr>
      <vt:lpstr>PowerPoint Presentation</vt:lpstr>
      <vt:lpstr>PowerPoint Presentation</vt:lpstr>
      <vt:lpstr>Which would be easier to understand?</vt:lpstr>
      <vt:lpstr>PowerPoint Presentation</vt:lpstr>
      <vt:lpstr>Interactive Notebooks</vt:lpstr>
      <vt:lpstr>Jupyter Notebooks</vt:lpstr>
      <vt:lpstr>Key Concepts</vt:lpstr>
      <vt:lpstr>PowerPoint Presentation</vt:lpstr>
      <vt:lpstr>Jupyter Lab</vt:lpstr>
      <vt:lpstr>PowerPoint Presentation</vt:lpstr>
      <vt:lpstr>PowerPoint Presentation</vt:lpstr>
      <vt:lpstr>PowerPoint Presentation</vt:lpstr>
      <vt:lpstr>Reproducibility tips: code</vt:lpstr>
      <vt:lpstr>Reproducibility tips: sharing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Lawson</dc:creator>
  <cp:lastModifiedBy>Peter Lawson</cp:lastModifiedBy>
  <cp:revision>7</cp:revision>
  <cp:lastPrinted>2026-10-26T19:47:19Z</cp:lastPrinted>
  <dcterms:created xsi:type="dcterms:W3CDTF">2026-10-26T17:02:04Z</dcterms:created>
  <dcterms:modified xsi:type="dcterms:W3CDTF">2026-10-27T14:45:27Z</dcterms:modified>
</cp:coreProperties>
</file>